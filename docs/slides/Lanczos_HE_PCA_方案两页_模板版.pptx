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28016"/>
            <a:ext cx="54864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9235440" cy="10973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</p:sp>
      <p:pic>
        <p:nvPicPr>
          <p:cNvPr id="4" name="Image 0" descr="/Users/bytedance/.trae-cn/work/6a3a72155f215216939cbe96/template_unpacked/ppt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18872"/>
            <a:ext cx="1783080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" y="128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六、当前方案</a:t>
            </a:r>
            <a:endParaRPr lang="en-US" sz="720" dirty="0"/>
          </a:p>
        </p:txBody>
      </p:sp>
      <p:sp>
        <p:nvSpPr>
          <p:cNvPr id="6" name="Shape 3"/>
          <p:cNvSpPr/>
          <p:nvPr/>
        </p:nvSpPr>
        <p:spPr>
          <a:xfrm>
            <a:off x="420624" y="576072"/>
            <a:ext cx="2560320" cy="3017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80944" y="576072"/>
            <a:ext cx="2606040" cy="301752"/>
          </a:xfrm>
          <a:prstGeom prst="rect">
            <a:avLst/>
          </a:prstGeom>
          <a:solidFill>
            <a:srgbClr val="1A5CC0">
              <a:alpha val="45000"/>
            </a:srgbClr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0" y="576072"/>
            <a:ext cx="1371600" cy="301752"/>
          </a:xfrm>
          <a:prstGeom prst="rect">
            <a:avLst/>
          </a:prstGeom>
          <a:solidFill>
            <a:srgbClr val="1A5CC0">
              <a:alpha val="14000"/>
            </a:srgbClr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" y="603504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为什么用 Lanczos 做 HE-PCA 迭代</a:t>
            </a:r>
            <a:endParaRPr lang="en-US" sz="1720" dirty="0"/>
          </a:p>
        </p:txBody>
      </p:sp>
      <p:sp>
        <p:nvSpPr>
          <p:cNvPr id="10" name="Text 7"/>
          <p:cNvSpPr/>
          <p:nvPr/>
        </p:nvSpPr>
        <p:spPr>
          <a:xfrm>
            <a:off x="603504" y="10241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目标：在 Server 看不到协方差矩阵明文的前提下，近似求出 PCA 的前 K 个主成分。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603504" y="1417320"/>
            <a:ext cx="3154680" cy="4224528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5910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Lanczos 是什么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04672" y="1810512"/>
            <a:ext cx="1353312" cy="10973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9659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K_m(C,v₀)=span{v₀,Cv₀,…,C^{m−1}v₀}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841248" y="2519172"/>
            <a:ext cx="59436" cy="59436"/>
          </a:xfrm>
          <a:prstGeom prst="ellipse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2468880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面向对称矩阵 C 的特征值近似方法；PCA 中 C 即协方差矩阵。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841248" y="2958084"/>
            <a:ext cx="59436" cy="59436"/>
          </a:xfrm>
          <a:prstGeom prst="ellipse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2907792"/>
            <a:ext cx="2478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不直接分解 d×d 大矩阵，而是在 Krylov 子空间里构造小的三对角矩阵 Tₘ。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841248" y="3415284"/>
            <a:ext cx="59436" cy="59436"/>
          </a:xfrm>
          <a:prstGeom prst="ellipse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3649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Tₘ 的 Ritz 值近似 C 的主特征值；Ritz 向量可映射回原空间得到主成分方向。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822960" y="3968496"/>
            <a:ext cx="2706624" cy="914"/>
          </a:xfrm>
          <a:prstGeom prst="rect">
            <a:avLst/>
          </a:prstGeom>
          <a:solidFill>
            <a:srgbClr val="D9E2F2"/>
          </a:solidFill>
          <a:ln w="12700">
            <a:solidFill>
              <a:srgbClr val="D9E2F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4160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 HE-PCA 的意义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41248" y="44439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7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一次密态迭代链即可同时积累多个主方向，避免把每一步归一化都交互回 Client。</a:t>
            </a:r>
            <a:endParaRPr lang="en-US" sz="770" dirty="0"/>
          </a:p>
        </p:txBody>
      </p:sp>
      <p:sp>
        <p:nvSpPr>
          <p:cNvPr id="24" name="Shape 21"/>
          <p:cNvSpPr/>
          <p:nvPr/>
        </p:nvSpPr>
        <p:spPr>
          <a:xfrm>
            <a:off x="4041648" y="1417320"/>
            <a:ext cx="3931920" cy="4224528"/>
          </a:xfrm>
          <a:prstGeom prst="roundRect">
            <a:avLst>
              <a:gd name="adj" fmla="val 930"/>
            </a:avLst>
          </a:prstGeom>
          <a:solidFill>
            <a:srgbClr val="F6F9FD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61104" y="1591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如何嵌入密态 PCA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4261104" y="1810512"/>
            <a:ext cx="1554480" cy="10973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70832" y="1993392"/>
            <a:ext cx="228600" cy="228600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70832" y="20345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718304" y="19842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密态矩阵-向量乘</a:t>
            </a:r>
            <a:endParaRPr lang="en-US" sz="770" dirty="0"/>
          </a:p>
        </p:txBody>
      </p:sp>
      <p:sp>
        <p:nvSpPr>
          <p:cNvPr id="30" name="Text 27"/>
          <p:cNvSpPr/>
          <p:nvPr/>
        </p:nvSpPr>
        <p:spPr>
          <a:xfrm>
            <a:off x="5943600" y="1979676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= C·V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4489704" y="2249424"/>
            <a:ext cx="0" cy="246888"/>
          </a:xfrm>
          <a:prstGeom prst="line">
            <a:avLst/>
          </a:prstGeom>
          <a:noFill/>
          <a:ln w="8255">
            <a:solidFill>
              <a:srgbClr val="9FB6D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370832" y="2560320"/>
            <a:ext cx="228600" cy="228600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70832" y="260146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718304" y="2551176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投影系数</a:t>
            </a:r>
            <a:endParaRPr lang="en-US" sz="770" dirty="0"/>
          </a:p>
        </p:txBody>
      </p:sp>
      <p:sp>
        <p:nvSpPr>
          <p:cNvPr id="35" name="Text 32"/>
          <p:cNvSpPr/>
          <p:nvPr/>
        </p:nvSpPr>
        <p:spPr>
          <a:xfrm>
            <a:off x="5943600" y="2546604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α = VᵀW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4489704" y="2816352"/>
            <a:ext cx="0" cy="246888"/>
          </a:xfrm>
          <a:prstGeom prst="line">
            <a:avLst/>
          </a:prstGeom>
          <a:noFill/>
          <a:ln w="8255">
            <a:solidFill>
              <a:srgbClr val="9FB6D8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4370832" y="3127248"/>
            <a:ext cx="228600" cy="228600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70832" y="316839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718304" y="311810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去掉已解释方向</a:t>
            </a:r>
            <a:endParaRPr lang="en-US" sz="770" dirty="0"/>
          </a:p>
        </p:txBody>
      </p:sp>
      <p:sp>
        <p:nvSpPr>
          <p:cNvPr id="40" name="Text 37"/>
          <p:cNvSpPr/>
          <p:nvPr/>
        </p:nvSpPr>
        <p:spPr>
          <a:xfrm>
            <a:off x="5943600" y="311353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Ŵ = W − αV − βprevVprev</a:t>
            </a:r>
            <a:endParaRPr lang="en-US" sz="920" dirty="0"/>
          </a:p>
        </p:txBody>
      </p:sp>
      <p:sp>
        <p:nvSpPr>
          <p:cNvPr id="41" name="Shape 38"/>
          <p:cNvSpPr/>
          <p:nvPr/>
        </p:nvSpPr>
        <p:spPr>
          <a:xfrm>
            <a:off x="4489704" y="3383280"/>
            <a:ext cx="0" cy="246888"/>
          </a:xfrm>
          <a:prstGeom prst="line">
            <a:avLst/>
          </a:prstGeom>
          <a:noFill/>
          <a:ln w="8255">
            <a:solidFill>
              <a:srgbClr val="9FB6D8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4370832" y="3694176"/>
            <a:ext cx="228600" cy="228600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370832" y="37353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718304" y="36850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密态归一化</a:t>
            </a:r>
            <a:endParaRPr lang="en-US" sz="770" dirty="0"/>
          </a:p>
        </p:txBody>
      </p:sp>
      <p:sp>
        <p:nvSpPr>
          <p:cNvPr id="45" name="Text 42"/>
          <p:cNvSpPr/>
          <p:nvPr/>
        </p:nvSpPr>
        <p:spPr>
          <a:xfrm>
            <a:off x="5943600" y="368046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Vnext = Ŵ · (1 / ||Ŵ||)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4489704" y="3950208"/>
            <a:ext cx="0" cy="246888"/>
          </a:xfrm>
          <a:prstGeom prst="line">
            <a:avLst/>
          </a:prstGeom>
          <a:noFill/>
          <a:ln w="8255">
            <a:solidFill>
              <a:srgbClr val="9FB6D8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4370832" y="4261104"/>
            <a:ext cx="228600" cy="228600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70832" y="430225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4718304" y="4251960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记录三对角矩阵</a:t>
            </a:r>
            <a:endParaRPr lang="en-US" sz="770" dirty="0"/>
          </a:p>
        </p:txBody>
      </p:sp>
      <p:sp>
        <p:nvSpPr>
          <p:cNvPr id="50" name="Text 47"/>
          <p:cNvSpPr/>
          <p:nvPr/>
        </p:nvSpPr>
        <p:spPr>
          <a:xfrm>
            <a:off x="5943600" y="4247388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Tₘ = tridiag(β, α, β)</a:t>
            </a:r>
            <a:endParaRPr lang="en-US" sz="920" dirty="0"/>
          </a:p>
        </p:txBody>
      </p:sp>
      <p:sp>
        <p:nvSpPr>
          <p:cNvPr id="51" name="Shape 48"/>
          <p:cNvSpPr/>
          <p:nvPr/>
        </p:nvSpPr>
        <p:spPr>
          <a:xfrm>
            <a:off x="4370832" y="4901184"/>
            <a:ext cx="327355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C6D6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35424" y="50109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实现对应：`Server::lanczosIteration` 返回 α、β 和 V_all；末步只算 α，跳过不必要的 Newton 归一化。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8275320" y="1417320"/>
            <a:ext cx="3246120" cy="4224528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485632" y="15910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 环境下的关键处理</a:t>
            </a:r>
            <a:endParaRPr lang="en-US" sz="1080" dirty="0"/>
          </a:p>
        </p:txBody>
      </p:sp>
      <p:sp>
        <p:nvSpPr>
          <p:cNvPr id="55" name="Shape 52"/>
          <p:cNvSpPr/>
          <p:nvPr/>
        </p:nvSpPr>
        <p:spPr>
          <a:xfrm>
            <a:off x="8485632" y="1810512"/>
            <a:ext cx="1755648" cy="10973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522208" y="1993392"/>
            <a:ext cx="2633472" cy="694944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 w="8255">
            <a:solidFill>
              <a:srgbClr val="D29A4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05088" y="2121408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困难：归一化不能解密</a:t>
            </a:r>
            <a:endParaRPr lang="en-US" sz="830" dirty="0"/>
          </a:p>
        </p:txBody>
      </p:sp>
      <p:sp>
        <p:nvSpPr>
          <p:cNvPr id="58" name="Text 55"/>
          <p:cNvSpPr/>
          <p:nvPr/>
        </p:nvSpPr>
        <p:spPr>
          <a:xfrm>
            <a:off x="10131552" y="2121408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/ √(ŴᵀŴ)</a:t>
            </a:r>
            <a:endParaRPr lang="en-US" sz="940" dirty="0"/>
          </a:p>
        </p:txBody>
      </p:sp>
      <p:sp>
        <p:nvSpPr>
          <p:cNvPr id="59" name="Text 56"/>
          <p:cNvSpPr/>
          <p:nvPr/>
        </p:nvSpPr>
        <p:spPr>
          <a:xfrm>
            <a:off x="8705088" y="2377440"/>
            <a:ext cx="2157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若每轮都回传 Client，会退化成多轮交互。</a:t>
            </a:r>
            <a:endParaRPr lang="en-US" sz="690" dirty="0"/>
          </a:p>
        </p:txBody>
      </p:sp>
      <p:sp>
        <p:nvSpPr>
          <p:cNvPr id="60" name="Shape 57"/>
          <p:cNvSpPr/>
          <p:nvPr/>
        </p:nvSpPr>
        <p:spPr>
          <a:xfrm>
            <a:off x="8522208" y="2999232"/>
            <a:ext cx="2633472" cy="749808"/>
          </a:xfrm>
          <a:prstGeom prst="roundRect">
            <a:avLst>
              <a:gd name="adj" fmla="val 4878"/>
            </a:avLst>
          </a:prstGeom>
          <a:solidFill>
            <a:srgbClr val="EAF6EE"/>
          </a:solidFill>
          <a:ln w="8255">
            <a:solidFill>
              <a:srgbClr val="6AA57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705088" y="3127248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方案：密文 Newton 近似</a:t>
            </a:r>
            <a:endParaRPr lang="en-US" sz="830" dirty="0"/>
          </a:p>
        </p:txBody>
      </p:sp>
      <p:sp>
        <p:nvSpPr>
          <p:cNvPr id="62" name="Text 59"/>
          <p:cNvSpPr/>
          <p:nvPr/>
        </p:nvSpPr>
        <p:spPr>
          <a:xfrm>
            <a:off x="8732520" y="33649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yₖ₊₁ = yₖ(3 − x yₖ²) / 2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8705088" y="358444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Client 预估初值，Server 在密文上完成 1/√x。</a:t>
            </a:r>
            <a:endParaRPr lang="en-US" sz="690" dirty="0"/>
          </a:p>
        </p:txBody>
      </p:sp>
      <p:sp>
        <p:nvSpPr>
          <p:cNvPr id="64" name="Shape 61"/>
          <p:cNvSpPr/>
          <p:nvPr/>
        </p:nvSpPr>
        <p:spPr>
          <a:xfrm>
            <a:off x="8522208" y="4151376"/>
            <a:ext cx="2633472" cy="749808"/>
          </a:xfrm>
          <a:prstGeom prst="roundRect">
            <a:avLst>
              <a:gd name="adj" fmla="val 4878"/>
            </a:avLst>
          </a:prstGeom>
          <a:solidFill>
            <a:srgbClr val="EEF4FB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705088" y="427939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工程补充：Bootstrap + BSGS</a:t>
            </a:r>
            <a:endParaRPr lang="en-US" sz="830" dirty="0"/>
          </a:p>
        </p:txBody>
      </p:sp>
      <p:sp>
        <p:nvSpPr>
          <p:cNvPr id="66" name="Text 63"/>
          <p:cNvSpPr/>
          <p:nvPr/>
        </p:nvSpPr>
        <p:spPr>
          <a:xfrm>
            <a:off x="8705088" y="4526280"/>
            <a:ext cx="2212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深度不足时刷新密文；矩阵-向量乘用 diagonal / BSGS 降低旋转与内存压力。</a:t>
            </a:r>
            <a:endParaRPr lang="en-US" sz="690" dirty="0"/>
          </a:p>
        </p:txBody>
      </p:sp>
      <p:sp>
        <p:nvSpPr>
          <p:cNvPr id="67" name="Text 64"/>
          <p:cNvSpPr/>
          <p:nvPr/>
        </p:nvSpPr>
        <p:spPr>
          <a:xfrm>
            <a:off x="658368" y="6053328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一句话：Lanczos 把 PCA 的大矩阵特征分解改写成“密态矩阵-向量乘 + 内积 + 归一化”的迭代链；难点集中在密态归一化与深度管理。</a:t>
            </a:r>
            <a:endParaRPr lang="en-US" sz="850" dirty="0"/>
          </a:p>
        </p:txBody>
      </p:sp>
      <p:sp>
        <p:nvSpPr>
          <p:cNvPr id="6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28016"/>
            <a:ext cx="54864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92608"/>
            <a:ext cx="9235440" cy="10973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>
                <a:alpha val="0"/>
              </a:srgbClr>
            </a:solidFill>
            <a:prstDash val="solid"/>
          </a:ln>
        </p:spPr>
      </p:sp>
      <p:pic>
        <p:nvPicPr>
          <p:cNvPr id="4" name="Image 0" descr="/Users/bytedance/.trae-cn/work/6a3a72155f215216939cbe96/template_unpacked/ppt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18872"/>
            <a:ext cx="1783080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" y="128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六、当前方案</a:t>
            </a:r>
            <a:endParaRPr lang="en-US" sz="720" dirty="0"/>
          </a:p>
        </p:txBody>
      </p:sp>
      <p:sp>
        <p:nvSpPr>
          <p:cNvPr id="6" name="Shape 3"/>
          <p:cNvSpPr/>
          <p:nvPr/>
        </p:nvSpPr>
        <p:spPr>
          <a:xfrm>
            <a:off x="420624" y="576072"/>
            <a:ext cx="2560320" cy="3017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80944" y="576072"/>
            <a:ext cx="2606040" cy="301752"/>
          </a:xfrm>
          <a:prstGeom prst="rect">
            <a:avLst/>
          </a:prstGeom>
          <a:solidFill>
            <a:srgbClr val="1A5CC0">
              <a:alpha val="45000"/>
            </a:srgbClr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0" y="576072"/>
            <a:ext cx="1371600" cy="301752"/>
          </a:xfrm>
          <a:prstGeom prst="rect">
            <a:avLst/>
          </a:prstGeom>
          <a:solidFill>
            <a:srgbClr val="1A5CC0">
              <a:alpha val="14000"/>
            </a:srgbClr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" y="603504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Lanczos + HE-PCA：Client / Server 交互流程</a:t>
            </a:r>
            <a:endParaRPr lang="en-US" sz="1720" dirty="0"/>
          </a:p>
        </p:txBody>
      </p:sp>
      <p:sp>
        <p:nvSpPr>
          <p:cNvPr id="10" name="Text 7"/>
          <p:cNvSpPr/>
          <p:nvPr/>
        </p:nvSpPr>
        <p:spPr>
          <a:xfrm>
            <a:off x="603504" y="1005840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设计重点：Client 只做数据持有、加密和最终后处理；Server 全程只看到密文，并在密文域完成 Lanczos 主循环。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" y="1417320"/>
            <a:ext cx="3977640" cy="4526280"/>
          </a:xfrm>
          <a:prstGeom prst="roundRect">
            <a:avLst>
              <a:gd name="adj" fmla="val 920"/>
            </a:avLst>
          </a:prstGeom>
          <a:solidFill>
            <a:srgbClr val="F6F9FD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52944" y="1417320"/>
            <a:ext cx="3977640" cy="4526280"/>
          </a:xfrm>
          <a:prstGeom prst="roundRect">
            <a:avLst>
              <a:gd name="adj" fmla="val 920"/>
            </a:avLst>
          </a:prstGeom>
          <a:solidFill>
            <a:srgbClr val="F6F9FD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6276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Client（数据持有方）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16276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Server（密态计算方）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71800" y="16459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拥有：X / C 明文、sk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875520" y="16459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只能看到：pk 与密文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932688" y="202996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2688" y="202996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" y="2231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1316736" y="212140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构造 PCA 输入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316736" y="232257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中心化 X，生成 C = XᵀX 或 toy SPD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932688" y="271576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2688" y="271576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" y="29169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C2</a:t>
            </a:r>
            <a:endParaRPr lang="en-US" sz="670" dirty="0"/>
          </a:p>
        </p:txBody>
      </p:sp>
      <p:sp>
        <p:nvSpPr>
          <p:cNvPr id="25" name="Text 22"/>
          <p:cNvSpPr/>
          <p:nvPr/>
        </p:nvSpPr>
        <p:spPr>
          <a:xfrm>
            <a:off x="1316736" y="280720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数值归一化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316736" y="300837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Ĉ = C / trace(C)，稳定 Newton 输入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932688" y="340156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2688" y="340156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36027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C3</a:t>
            </a:r>
            <a:endParaRPr lang="en-US" sz="670" dirty="0"/>
          </a:p>
        </p:txBody>
      </p:sp>
      <p:sp>
        <p:nvSpPr>
          <p:cNvPr id="30" name="Text 27"/>
          <p:cNvSpPr/>
          <p:nvPr/>
        </p:nvSpPr>
        <p:spPr>
          <a:xfrm>
            <a:off x="1316736" y="349300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密钥与加密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316736" y="369417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pk/sk/旋转钥；加密 Ĉ、v₀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932688" y="477316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32688" y="477316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0976" y="49743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C4</a:t>
            </a:r>
            <a:endParaRPr lang="en-US" sz="670" dirty="0"/>
          </a:p>
        </p:txBody>
      </p:sp>
      <p:sp>
        <p:nvSpPr>
          <p:cNvPr id="35" name="Text 32"/>
          <p:cNvSpPr/>
          <p:nvPr/>
        </p:nvSpPr>
        <p:spPr>
          <a:xfrm>
            <a:off x="1316736" y="486460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解密后处理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316736" y="506577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解密 α、β、V_all，构造 Tₘ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932688" y="541324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2688" y="541324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0976" y="561441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C5</a:t>
            </a:r>
            <a:endParaRPr lang="en-US" sz="670" dirty="0"/>
          </a:p>
        </p:txBody>
      </p:sp>
      <p:sp>
        <p:nvSpPr>
          <p:cNvPr id="40" name="Text 37"/>
          <p:cNvSpPr/>
          <p:nvPr/>
        </p:nvSpPr>
        <p:spPr>
          <a:xfrm>
            <a:off x="1316736" y="550468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恢复主成分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1316736" y="570585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CW 过滤 + Ritz 映射 + 反归一化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4956048" y="1828800"/>
            <a:ext cx="2212848" cy="352044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22392" y="19933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通信边界</a:t>
            </a:r>
            <a:endParaRPr lang="en-US" sz="1020" dirty="0"/>
          </a:p>
        </p:txBody>
      </p:sp>
      <p:sp>
        <p:nvSpPr>
          <p:cNvPr id="44" name="Shape 41"/>
          <p:cNvSpPr/>
          <p:nvPr/>
        </p:nvSpPr>
        <p:spPr>
          <a:xfrm>
            <a:off x="6062472" y="2340864"/>
            <a:ext cx="0" cy="2596896"/>
          </a:xfrm>
          <a:prstGeom prst="line">
            <a:avLst/>
          </a:prstGeom>
          <a:noFill/>
          <a:ln w="12700">
            <a:solidFill>
              <a:srgbClr val="D9E2F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68112" y="505663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仅两轮主通信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3703320" y="2944368"/>
            <a:ext cx="3703320" cy="0"/>
          </a:xfrm>
          <a:prstGeom prst="line">
            <a:avLst/>
          </a:prstGeom>
          <a:noFill/>
          <a:ln w="14605">
            <a:solidFill>
              <a:srgbClr val="1A5CC0"/>
            </a:solidFill>
            <a:prstDash val="solid"/>
            <a:tailEnd type="triangle"/>
          </a:ln>
        </p:spPr>
      </p:sp>
      <p:sp>
        <p:nvSpPr>
          <p:cNvPr id="47" name="Text 44"/>
          <p:cNvSpPr/>
          <p:nvPr/>
        </p:nvSpPr>
        <p:spPr>
          <a:xfrm>
            <a:off x="3840480" y="2743200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CC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enc(Ĉ), enc(v₀), pk / eval keys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7406640" y="4919472"/>
            <a:ext cx="-3703320" cy="0"/>
          </a:xfrm>
          <a:prstGeom prst="line">
            <a:avLst/>
          </a:prstGeom>
          <a:noFill/>
          <a:ln w="14605">
            <a:solidFill>
              <a:srgbClr val="1A5CC0"/>
            </a:solidFill>
            <a:prstDash val="solid"/>
            <a:tailEnd type="triangle"/>
          </a:ln>
        </p:spPr>
      </p:sp>
      <p:sp>
        <p:nvSpPr>
          <p:cNvPr id="49" name="Text 46"/>
          <p:cNvSpPr/>
          <p:nvPr/>
        </p:nvSpPr>
        <p:spPr>
          <a:xfrm>
            <a:off x="3840480" y="471830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5CC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enc(α), enc(β), enc(V_all)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7882128" y="202996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882128" y="202996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900416" y="22311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</a:t>
            </a:r>
            <a:endParaRPr lang="en-US" sz="670" dirty="0"/>
          </a:p>
        </p:txBody>
      </p:sp>
      <p:sp>
        <p:nvSpPr>
          <p:cNvPr id="53" name="Text 50"/>
          <p:cNvSpPr/>
          <p:nvPr/>
        </p:nvSpPr>
        <p:spPr>
          <a:xfrm>
            <a:off x="8266176" y="212140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密态矩阵-向量乘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8266176" y="232257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 = Ĉ · V；Diagonal / BSGS 打包</a:t>
            </a:r>
            <a:endParaRPr lang="en-US" sz="600" dirty="0"/>
          </a:p>
        </p:txBody>
      </p:sp>
      <p:sp>
        <p:nvSpPr>
          <p:cNvPr id="55" name="Shape 52"/>
          <p:cNvSpPr/>
          <p:nvPr/>
        </p:nvSpPr>
        <p:spPr>
          <a:xfrm>
            <a:off x="7882128" y="267004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882128" y="267004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900416" y="287121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</a:t>
            </a:r>
            <a:endParaRPr lang="en-US" sz="670" dirty="0"/>
          </a:p>
        </p:txBody>
      </p:sp>
      <p:sp>
        <p:nvSpPr>
          <p:cNvPr id="58" name="Text 55"/>
          <p:cNvSpPr/>
          <p:nvPr/>
        </p:nvSpPr>
        <p:spPr>
          <a:xfrm>
            <a:off x="8266176" y="276148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密态内积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8266176" y="296265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α = VᵀW；norm² = ŴᵀŴ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7882128" y="331012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882128" y="331012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900416" y="351129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</a:t>
            </a:r>
            <a:endParaRPr lang="en-US" sz="670" dirty="0"/>
          </a:p>
        </p:txBody>
      </p:sp>
      <p:sp>
        <p:nvSpPr>
          <p:cNvPr id="63" name="Text 60"/>
          <p:cNvSpPr/>
          <p:nvPr/>
        </p:nvSpPr>
        <p:spPr>
          <a:xfrm>
            <a:off x="8266176" y="34015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Lanczos 三项递推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8266176" y="360273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Ŵ = W − αV − βprevVprev</a:t>
            </a:r>
            <a:endParaRPr lang="en-US" sz="600" dirty="0"/>
          </a:p>
        </p:txBody>
      </p:sp>
      <p:sp>
        <p:nvSpPr>
          <p:cNvPr id="65" name="Shape 62"/>
          <p:cNvSpPr/>
          <p:nvPr/>
        </p:nvSpPr>
        <p:spPr>
          <a:xfrm>
            <a:off x="7882128" y="395020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882128" y="395020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900416" y="415137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</a:t>
            </a:r>
            <a:endParaRPr lang="en-US" sz="670" dirty="0"/>
          </a:p>
        </p:txBody>
      </p:sp>
      <p:sp>
        <p:nvSpPr>
          <p:cNvPr id="68" name="Text 65"/>
          <p:cNvSpPr/>
          <p:nvPr/>
        </p:nvSpPr>
        <p:spPr>
          <a:xfrm>
            <a:off x="8266176" y="404164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密态归一化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8266176" y="424281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Newton / aSOR 近似 1/√x 得 Vnext</a:t>
            </a:r>
            <a:endParaRPr lang="en-US" sz="600" dirty="0"/>
          </a:p>
        </p:txBody>
      </p:sp>
      <p:sp>
        <p:nvSpPr>
          <p:cNvPr id="70" name="Shape 67"/>
          <p:cNvSpPr/>
          <p:nvPr/>
        </p:nvSpPr>
        <p:spPr>
          <a:xfrm>
            <a:off x="7882128" y="4590288"/>
            <a:ext cx="2340864" cy="530352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8255">
            <a:solidFill>
              <a:srgbClr val="9FB6D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882128" y="4590288"/>
            <a:ext cx="274320" cy="530352"/>
          </a:xfrm>
          <a:prstGeom prst="rect">
            <a:avLst/>
          </a:prstGeom>
          <a:solidFill>
            <a:srgbClr val="1A5CC0"/>
          </a:solidFill>
          <a:ln w="12700">
            <a:solidFill>
              <a:srgbClr val="1A5CC0">
                <a:alpha val="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900416" y="479145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</a:t>
            </a:r>
            <a:endParaRPr lang="en-US" sz="670" dirty="0"/>
          </a:p>
        </p:txBody>
      </p:sp>
      <p:sp>
        <p:nvSpPr>
          <p:cNvPr id="73" name="Text 70"/>
          <p:cNvSpPr/>
          <p:nvPr/>
        </p:nvSpPr>
        <p:spPr>
          <a:xfrm>
            <a:off x="8266176" y="468172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深度管理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8266176" y="488289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5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 Bootstrap，记录 α/β/V_all</a:t>
            </a:r>
            <a:endParaRPr lang="en-US" sz="600" dirty="0"/>
          </a:p>
        </p:txBody>
      </p:sp>
      <p:sp>
        <p:nvSpPr>
          <p:cNvPr id="75" name="Shape 72"/>
          <p:cNvSpPr/>
          <p:nvPr/>
        </p:nvSpPr>
        <p:spPr>
          <a:xfrm>
            <a:off x="5010912" y="557784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8255">
            <a:solidFill>
              <a:srgbClr val="6AA57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157216" y="568756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Server 不解密；Client 不参与每轮迭代</a:t>
            </a:r>
            <a:endParaRPr lang="en-US" sz="690" dirty="0"/>
          </a:p>
        </p:txBody>
      </p:sp>
      <p:sp>
        <p:nvSpPr>
          <p:cNvPr id="77" name="Text 74"/>
          <p:cNvSpPr/>
          <p:nvPr/>
        </p:nvSpPr>
        <p:spPr>
          <a:xfrm>
            <a:off x="676656" y="6199632"/>
            <a:ext cx="10625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0206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输出：前 K 个特征值 λᵢ、主成分方向 uᵢ，以及可用于 PCA 投影的 V_K；实验中再与明文 PCA 比较特征值误差和向量余弦相似度。</a:t>
            </a:r>
            <a:endParaRPr lang="en-US" sz="810" dirty="0"/>
          </a:p>
        </p:txBody>
      </p:sp>
      <p:sp>
        <p:nvSpPr>
          <p:cNvPr id="7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Lanczos + HE-PCA</dc:title>
  <dc:subject>Lanczos + HE-PCA 方案说明</dc:subject>
  <dc:creator>TRAE</dc:creator>
  <cp:lastModifiedBy>TRAE</cp:lastModifiedBy>
  <cp:revision>1</cp:revision>
  <dcterms:created xsi:type="dcterms:W3CDTF">2026-06-23T12:44:23Z</dcterms:created>
  <dcterms:modified xsi:type="dcterms:W3CDTF">2026-06-23T12:44:23Z</dcterms:modified>
</cp:coreProperties>
</file>